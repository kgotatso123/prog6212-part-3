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4" r:id="rId6"/>
    <p:sldId id="259" r:id="rId7"/>
    <p:sldId id="265" r:id="rId8"/>
    <p:sldId id="260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EABC2-0137-BCDF-453D-A2FAE0866F5F}" v="289" dt="2024-11-22T11:28:55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5" autoAdjust="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78631A-12A3-4455-ABC0-053C0FDAB2D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CAF2E0-5142-4F77-8FBE-7FF303DA4B62}">
      <dgm:prSet/>
      <dgm:spPr/>
      <dgm:t>
        <a:bodyPr/>
        <a:lstStyle/>
        <a:p>
          <a:r>
            <a:rPr lang="en-US" b="1"/>
            <a:t>Efficiency:</a:t>
          </a:r>
          <a:endParaRPr lang="en-US"/>
        </a:p>
      </dgm:t>
    </dgm:pt>
    <dgm:pt modelId="{4F0177EC-46FA-428E-B087-8C3BA2BF136B}" type="parTrans" cxnId="{0EF49CE1-2677-459B-961C-28716346E774}">
      <dgm:prSet/>
      <dgm:spPr/>
      <dgm:t>
        <a:bodyPr/>
        <a:lstStyle/>
        <a:p>
          <a:endParaRPr lang="en-US"/>
        </a:p>
      </dgm:t>
    </dgm:pt>
    <dgm:pt modelId="{D784334D-1E4A-4435-912F-896C30AD5F52}" type="sibTrans" cxnId="{0EF49CE1-2677-459B-961C-28716346E774}">
      <dgm:prSet/>
      <dgm:spPr/>
      <dgm:t>
        <a:bodyPr/>
        <a:lstStyle/>
        <a:p>
          <a:endParaRPr lang="en-US"/>
        </a:p>
      </dgm:t>
    </dgm:pt>
    <dgm:pt modelId="{94F2DDD8-14C5-4D64-BE5A-4638F8287E79}">
      <dgm:prSet/>
      <dgm:spPr/>
      <dgm:t>
        <a:bodyPr/>
        <a:lstStyle/>
        <a:p>
          <a:r>
            <a:rPr lang="en-US"/>
            <a:t>Automates manual claim submission and review processes.</a:t>
          </a:r>
        </a:p>
      </dgm:t>
    </dgm:pt>
    <dgm:pt modelId="{AC0A2864-12B6-4484-8D63-957E3A34411C}" type="parTrans" cxnId="{E5BDBFB0-610B-4D41-BD65-8F894CF3555D}">
      <dgm:prSet/>
      <dgm:spPr/>
      <dgm:t>
        <a:bodyPr/>
        <a:lstStyle/>
        <a:p>
          <a:endParaRPr lang="en-US"/>
        </a:p>
      </dgm:t>
    </dgm:pt>
    <dgm:pt modelId="{C5527CF1-EEDA-4DDC-899A-53C52D6C60B0}" type="sibTrans" cxnId="{E5BDBFB0-610B-4D41-BD65-8F894CF3555D}">
      <dgm:prSet/>
      <dgm:spPr/>
      <dgm:t>
        <a:bodyPr/>
        <a:lstStyle/>
        <a:p>
          <a:endParaRPr lang="en-US"/>
        </a:p>
      </dgm:t>
    </dgm:pt>
    <dgm:pt modelId="{43C6F5E3-1C08-4658-8351-630643E0785C}">
      <dgm:prSet/>
      <dgm:spPr/>
      <dgm:t>
        <a:bodyPr/>
        <a:lstStyle/>
        <a:p>
          <a:r>
            <a:rPr lang="en-US" b="1"/>
            <a:t>Transparency:</a:t>
          </a:r>
          <a:endParaRPr lang="en-US"/>
        </a:p>
      </dgm:t>
    </dgm:pt>
    <dgm:pt modelId="{FCEA839B-82BD-4EED-B60B-8394E8F248D8}" type="parTrans" cxnId="{53F09267-51DB-4DE7-866E-F370492D9AE4}">
      <dgm:prSet/>
      <dgm:spPr/>
      <dgm:t>
        <a:bodyPr/>
        <a:lstStyle/>
        <a:p>
          <a:endParaRPr lang="en-US"/>
        </a:p>
      </dgm:t>
    </dgm:pt>
    <dgm:pt modelId="{45E600B7-9074-423F-A249-F6A7A1487ABB}" type="sibTrans" cxnId="{53F09267-51DB-4DE7-866E-F370492D9AE4}">
      <dgm:prSet/>
      <dgm:spPr/>
      <dgm:t>
        <a:bodyPr/>
        <a:lstStyle/>
        <a:p>
          <a:endParaRPr lang="en-US"/>
        </a:p>
      </dgm:t>
    </dgm:pt>
    <dgm:pt modelId="{2BBCC012-EEFF-4C10-BAF4-5BEB3560C42C}">
      <dgm:prSet/>
      <dgm:spPr/>
      <dgm:t>
        <a:bodyPr/>
        <a:lstStyle/>
        <a:p>
          <a:r>
            <a:rPr lang="en-US"/>
            <a:t>Real-time tracking ensures clarity for lecturers and administrators.</a:t>
          </a:r>
        </a:p>
      </dgm:t>
    </dgm:pt>
    <dgm:pt modelId="{38B6E208-45DE-4D1E-B6E0-01B864233A71}" type="parTrans" cxnId="{9DF416D0-3464-4E9D-8184-75BB8C2990D0}">
      <dgm:prSet/>
      <dgm:spPr/>
      <dgm:t>
        <a:bodyPr/>
        <a:lstStyle/>
        <a:p>
          <a:endParaRPr lang="en-US"/>
        </a:p>
      </dgm:t>
    </dgm:pt>
    <dgm:pt modelId="{001D2384-F5E5-415B-9765-CC29179A14D8}" type="sibTrans" cxnId="{9DF416D0-3464-4E9D-8184-75BB8C2990D0}">
      <dgm:prSet/>
      <dgm:spPr/>
      <dgm:t>
        <a:bodyPr/>
        <a:lstStyle/>
        <a:p>
          <a:endParaRPr lang="en-US"/>
        </a:p>
      </dgm:t>
    </dgm:pt>
    <dgm:pt modelId="{95BA3B52-3525-463D-994A-B3026CE6A2C6}">
      <dgm:prSet/>
      <dgm:spPr/>
      <dgm:t>
        <a:bodyPr/>
        <a:lstStyle/>
        <a:p>
          <a:r>
            <a:rPr lang="en-US" b="1"/>
            <a:t>Scalability:</a:t>
          </a:r>
          <a:endParaRPr lang="en-US"/>
        </a:p>
      </dgm:t>
    </dgm:pt>
    <dgm:pt modelId="{80472E0C-7F7D-4E61-9849-34E339F96D6C}" type="parTrans" cxnId="{79A11E77-DE63-4C02-BB4D-84F88AA33B40}">
      <dgm:prSet/>
      <dgm:spPr/>
      <dgm:t>
        <a:bodyPr/>
        <a:lstStyle/>
        <a:p>
          <a:endParaRPr lang="en-US"/>
        </a:p>
      </dgm:t>
    </dgm:pt>
    <dgm:pt modelId="{60AC9BB3-29A3-40EC-AF9B-B798B52111CB}" type="sibTrans" cxnId="{79A11E77-DE63-4C02-BB4D-84F88AA33B40}">
      <dgm:prSet/>
      <dgm:spPr/>
      <dgm:t>
        <a:bodyPr/>
        <a:lstStyle/>
        <a:p>
          <a:endParaRPr lang="en-US"/>
        </a:p>
      </dgm:t>
    </dgm:pt>
    <dgm:pt modelId="{38735EAF-AF89-4B59-9682-48FBA4408C7C}">
      <dgm:prSet/>
      <dgm:spPr/>
      <dgm:t>
        <a:bodyPr/>
        <a:lstStyle/>
        <a:p>
          <a:r>
            <a:rPr lang="en-US"/>
            <a:t>Designed to handle multiple users and large volumes of claims.</a:t>
          </a:r>
        </a:p>
      </dgm:t>
    </dgm:pt>
    <dgm:pt modelId="{857A245F-AEE6-49BA-91AD-FC6EC89E57F2}" type="parTrans" cxnId="{8CA3EC9F-3498-4CDD-8F1E-80EAC8DCD3F7}">
      <dgm:prSet/>
      <dgm:spPr/>
      <dgm:t>
        <a:bodyPr/>
        <a:lstStyle/>
        <a:p>
          <a:endParaRPr lang="en-US"/>
        </a:p>
      </dgm:t>
    </dgm:pt>
    <dgm:pt modelId="{7D6CF590-7228-4966-8389-5246215AE3BB}" type="sibTrans" cxnId="{8CA3EC9F-3498-4CDD-8F1E-80EAC8DCD3F7}">
      <dgm:prSet/>
      <dgm:spPr/>
      <dgm:t>
        <a:bodyPr/>
        <a:lstStyle/>
        <a:p>
          <a:endParaRPr lang="en-US"/>
        </a:p>
      </dgm:t>
    </dgm:pt>
    <dgm:pt modelId="{0351DB71-7BC7-461A-B87E-0AADB1E2E486}">
      <dgm:prSet/>
      <dgm:spPr/>
      <dgm:t>
        <a:bodyPr/>
        <a:lstStyle/>
        <a:p>
          <a:r>
            <a:rPr lang="en-US" b="1"/>
            <a:t>Cost-Effectiveness:</a:t>
          </a:r>
          <a:endParaRPr lang="en-US"/>
        </a:p>
      </dgm:t>
    </dgm:pt>
    <dgm:pt modelId="{B1AB478A-E0C0-44B2-B06D-094739307813}" type="parTrans" cxnId="{230A63F4-2DD3-4DEA-BABF-67A78C818CFD}">
      <dgm:prSet/>
      <dgm:spPr/>
      <dgm:t>
        <a:bodyPr/>
        <a:lstStyle/>
        <a:p>
          <a:endParaRPr lang="en-US"/>
        </a:p>
      </dgm:t>
    </dgm:pt>
    <dgm:pt modelId="{41B7FCC0-799E-44D0-A45F-DD13070C2FC4}" type="sibTrans" cxnId="{230A63F4-2DD3-4DEA-BABF-67A78C818CFD}">
      <dgm:prSet/>
      <dgm:spPr/>
      <dgm:t>
        <a:bodyPr/>
        <a:lstStyle/>
        <a:p>
          <a:endParaRPr lang="en-US"/>
        </a:p>
      </dgm:t>
    </dgm:pt>
    <dgm:pt modelId="{C12293CF-B00D-4A6D-A8A7-0F878766D04C}">
      <dgm:prSet/>
      <dgm:spPr/>
      <dgm:t>
        <a:bodyPr/>
        <a:lstStyle/>
        <a:p>
          <a:r>
            <a:rPr lang="en-US"/>
            <a:t>Reduces paper-based workflows and minimizes administrative overhead.</a:t>
          </a:r>
        </a:p>
      </dgm:t>
    </dgm:pt>
    <dgm:pt modelId="{351B3162-5409-40C7-A117-91E1883BCD40}" type="parTrans" cxnId="{B89EBFC3-9DC6-4F16-A830-2C04DC9B668D}">
      <dgm:prSet/>
      <dgm:spPr/>
      <dgm:t>
        <a:bodyPr/>
        <a:lstStyle/>
        <a:p>
          <a:endParaRPr lang="en-US"/>
        </a:p>
      </dgm:t>
    </dgm:pt>
    <dgm:pt modelId="{FF03E021-3F50-497E-AEC8-1C9D80192DA1}" type="sibTrans" cxnId="{B89EBFC3-9DC6-4F16-A830-2C04DC9B668D}">
      <dgm:prSet/>
      <dgm:spPr/>
      <dgm:t>
        <a:bodyPr/>
        <a:lstStyle/>
        <a:p>
          <a:endParaRPr lang="en-US"/>
        </a:p>
      </dgm:t>
    </dgm:pt>
    <dgm:pt modelId="{C8D7DF08-96C6-4603-9025-8E64EB8867CC}" type="pres">
      <dgm:prSet presAssocID="{2478631A-12A3-4455-ABC0-053C0FDAB2D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AD135BB-0667-4709-9E12-D710073F35CB}" type="pres">
      <dgm:prSet presAssocID="{0BCAF2E0-5142-4F77-8FBE-7FF303DA4B62}" presName="parentLin" presStyleCnt="0"/>
      <dgm:spPr/>
    </dgm:pt>
    <dgm:pt modelId="{FE01CD2B-034A-4BA6-BD36-A5F2259E9B77}" type="pres">
      <dgm:prSet presAssocID="{0BCAF2E0-5142-4F77-8FBE-7FF303DA4B62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F3C760EA-FB2E-476D-B8B8-379E9A6C0822}" type="pres">
      <dgm:prSet presAssocID="{0BCAF2E0-5142-4F77-8FBE-7FF303DA4B62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E3F671-1968-4CB4-8D76-CA09DA1CF564}" type="pres">
      <dgm:prSet presAssocID="{0BCAF2E0-5142-4F77-8FBE-7FF303DA4B62}" presName="negativeSpace" presStyleCnt="0"/>
      <dgm:spPr/>
    </dgm:pt>
    <dgm:pt modelId="{61BDE7B9-98D5-4789-9C8B-8BBFA855CC5F}" type="pres">
      <dgm:prSet presAssocID="{0BCAF2E0-5142-4F77-8FBE-7FF303DA4B62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87D910-8CB8-4C46-ACD8-0167ED188B16}" type="pres">
      <dgm:prSet presAssocID="{D784334D-1E4A-4435-912F-896C30AD5F52}" presName="spaceBetweenRectangles" presStyleCnt="0"/>
      <dgm:spPr/>
    </dgm:pt>
    <dgm:pt modelId="{50A97D77-EE76-4938-A45F-92CD836EC016}" type="pres">
      <dgm:prSet presAssocID="{43C6F5E3-1C08-4658-8351-630643E0785C}" presName="parentLin" presStyleCnt="0"/>
      <dgm:spPr/>
    </dgm:pt>
    <dgm:pt modelId="{588E4310-2EEF-4966-8DFB-CC8EC5EBC6A8}" type="pres">
      <dgm:prSet presAssocID="{43C6F5E3-1C08-4658-8351-630643E0785C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2E4FD9EE-D76E-4A8A-B753-FF1751D283A3}" type="pres">
      <dgm:prSet presAssocID="{43C6F5E3-1C08-4658-8351-630643E0785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03A445-6B55-472D-8744-7779272539C6}" type="pres">
      <dgm:prSet presAssocID="{43C6F5E3-1C08-4658-8351-630643E0785C}" presName="negativeSpace" presStyleCnt="0"/>
      <dgm:spPr/>
    </dgm:pt>
    <dgm:pt modelId="{BC2F1EE6-8E29-4507-8DB2-C27BF84998CC}" type="pres">
      <dgm:prSet presAssocID="{43C6F5E3-1C08-4658-8351-630643E0785C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D80279-C65B-44A9-97DF-31ED964712E7}" type="pres">
      <dgm:prSet presAssocID="{45E600B7-9074-423F-A249-F6A7A1487ABB}" presName="spaceBetweenRectangles" presStyleCnt="0"/>
      <dgm:spPr/>
    </dgm:pt>
    <dgm:pt modelId="{5276A00F-EC2C-44F5-B0A5-E4CA07B257C4}" type="pres">
      <dgm:prSet presAssocID="{95BA3B52-3525-463D-994A-B3026CE6A2C6}" presName="parentLin" presStyleCnt="0"/>
      <dgm:spPr/>
    </dgm:pt>
    <dgm:pt modelId="{5B6572E0-A301-4FED-96A4-01861FAFCA77}" type="pres">
      <dgm:prSet presAssocID="{95BA3B52-3525-463D-994A-B3026CE6A2C6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BF6C51BE-ED5B-4928-9175-30627785BE68}" type="pres">
      <dgm:prSet presAssocID="{95BA3B52-3525-463D-994A-B3026CE6A2C6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2077DF-4AE1-4BDF-BBCE-350E1E18C8E9}" type="pres">
      <dgm:prSet presAssocID="{95BA3B52-3525-463D-994A-B3026CE6A2C6}" presName="negativeSpace" presStyleCnt="0"/>
      <dgm:spPr/>
    </dgm:pt>
    <dgm:pt modelId="{B36D5397-F791-4CE9-BCB5-43BA3885B047}" type="pres">
      <dgm:prSet presAssocID="{95BA3B52-3525-463D-994A-B3026CE6A2C6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CBD216-571B-4EB7-9570-EB013E5D2274}" type="pres">
      <dgm:prSet presAssocID="{60AC9BB3-29A3-40EC-AF9B-B798B52111CB}" presName="spaceBetweenRectangles" presStyleCnt="0"/>
      <dgm:spPr/>
    </dgm:pt>
    <dgm:pt modelId="{0D6256AC-C124-41AA-AB0F-CED81F09C4E2}" type="pres">
      <dgm:prSet presAssocID="{0351DB71-7BC7-461A-B87E-0AADB1E2E486}" presName="parentLin" presStyleCnt="0"/>
      <dgm:spPr/>
    </dgm:pt>
    <dgm:pt modelId="{6E214958-4AFA-4CC0-855E-B08FB90F32E6}" type="pres">
      <dgm:prSet presAssocID="{0351DB71-7BC7-461A-B87E-0AADB1E2E486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6730C939-42D0-4633-A186-4F491865A48A}" type="pres">
      <dgm:prSet presAssocID="{0351DB71-7BC7-461A-B87E-0AADB1E2E486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9F8AC6-796E-4B35-8E4B-ACA1635B2396}" type="pres">
      <dgm:prSet presAssocID="{0351DB71-7BC7-461A-B87E-0AADB1E2E486}" presName="negativeSpace" presStyleCnt="0"/>
      <dgm:spPr/>
    </dgm:pt>
    <dgm:pt modelId="{80F19620-F363-4C78-BEB0-7A8CBB09BE7E}" type="pres">
      <dgm:prSet presAssocID="{0351DB71-7BC7-461A-B87E-0AADB1E2E486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96D74C6-AFBF-42F5-B947-588937243EFB}" type="presOf" srcId="{43C6F5E3-1C08-4658-8351-630643E0785C}" destId="{2E4FD9EE-D76E-4A8A-B753-FF1751D283A3}" srcOrd="1" destOrd="0" presId="urn:microsoft.com/office/officeart/2005/8/layout/list1"/>
    <dgm:cxn modelId="{007CFA37-D5ED-44B4-AC57-0DC0D420CF5A}" type="presOf" srcId="{2BBCC012-EEFF-4C10-BAF4-5BEB3560C42C}" destId="{BC2F1EE6-8E29-4507-8DB2-C27BF84998CC}" srcOrd="0" destOrd="0" presId="urn:microsoft.com/office/officeart/2005/8/layout/list1"/>
    <dgm:cxn modelId="{0EF49CE1-2677-459B-961C-28716346E774}" srcId="{2478631A-12A3-4455-ABC0-053C0FDAB2D3}" destId="{0BCAF2E0-5142-4F77-8FBE-7FF303DA4B62}" srcOrd="0" destOrd="0" parTransId="{4F0177EC-46FA-428E-B087-8C3BA2BF136B}" sibTransId="{D784334D-1E4A-4435-912F-896C30AD5F52}"/>
    <dgm:cxn modelId="{BF32D5A4-47FC-4043-9EB6-86FBE07E1B55}" type="presOf" srcId="{2478631A-12A3-4455-ABC0-053C0FDAB2D3}" destId="{C8D7DF08-96C6-4603-9025-8E64EB8867CC}" srcOrd="0" destOrd="0" presId="urn:microsoft.com/office/officeart/2005/8/layout/list1"/>
    <dgm:cxn modelId="{3BF15CA1-FAA9-46F1-99D7-A48CD59E6D4C}" type="presOf" srcId="{0351DB71-7BC7-461A-B87E-0AADB1E2E486}" destId="{6E214958-4AFA-4CC0-855E-B08FB90F32E6}" srcOrd="0" destOrd="0" presId="urn:microsoft.com/office/officeart/2005/8/layout/list1"/>
    <dgm:cxn modelId="{53F09267-51DB-4DE7-866E-F370492D9AE4}" srcId="{2478631A-12A3-4455-ABC0-053C0FDAB2D3}" destId="{43C6F5E3-1C08-4658-8351-630643E0785C}" srcOrd="1" destOrd="0" parTransId="{FCEA839B-82BD-4EED-B60B-8394E8F248D8}" sibTransId="{45E600B7-9074-423F-A249-F6A7A1487ABB}"/>
    <dgm:cxn modelId="{8CA3EC9F-3498-4CDD-8F1E-80EAC8DCD3F7}" srcId="{95BA3B52-3525-463D-994A-B3026CE6A2C6}" destId="{38735EAF-AF89-4B59-9682-48FBA4408C7C}" srcOrd="0" destOrd="0" parTransId="{857A245F-AEE6-49BA-91AD-FC6EC89E57F2}" sibTransId="{7D6CF590-7228-4966-8389-5246215AE3BB}"/>
    <dgm:cxn modelId="{8D835FCE-76B9-4257-9E2B-F3A6330B2E5C}" type="presOf" srcId="{C12293CF-B00D-4A6D-A8A7-0F878766D04C}" destId="{80F19620-F363-4C78-BEB0-7A8CBB09BE7E}" srcOrd="0" destOrd="0" presId="urn:microsoft.com/office/officeart/2005/8/layout/list1"/>
    <dgm:cxn modelId="{31CB612A-1BE7-48F0-96DD-F121D459A5C9}" type="presOf" srcId="{0BCAF2E0-5142-4F77-8FBE-7FF303DA4B62}" destId="{FE01CD2B-034A-4BA6-BD36-A5F2259E9B77}" srcOrd="0" destOrd="0" presId="urn:microsoft.com/office/officeart/2005/8/layout/list1"/>
    <dgm:cxn modelId="{9DF416D0-3464-4E9D-8184-75BB8C2990D0}" srcId="{43C6F5E3-1C08-4658-8351-630643E0785C}" destId="{2BBCC012-EEFF-4C10-BAF4-5BEB3560C42C}" srcOrd="0" destOrd="0" parTransId="{38B6E208-45DE-4D1E-B6E0-01B864233A71}" sibTransId="{001D2384-F5E5-415B-9765-CC29179A14D8}"/>
    <dgm:cxn modelId="{13E7B8DC-E990-40ED-8D76-E6BEE35A5758}" type="presOf" srcId="{94F2DDD8-14C5-4D64-BE5A-4638F8287E79}" destId="{61BDE7B9-98D5-4789-9C8B-8BBFA855CC5F}" srcOrd="0" destOrd="0" presId="urn:microsoft.com/office/officeart/2005/8/layout/list1"/>
    <dgm:cxn modelId="{E2FC239F-9F0D-465C-AB6D-9CD362B2D556}" type="presOf" srcId="{38735EAF-AF89-4B59-9682-48FBA4408C7C}" destId="{B36D5397-F791-4CE9-BCB5-43BA3885B047}" srcOrd="0" destOrd="0" presId="urn:microsoft.com/office/officeart/2005/8/layout/list1"/>
    <dgm:cxn modelId="{230A63F4-2DD3-4DEA-BABF-67A78C818CFD}" srcId="{2478631A-12A3-4455-ABC0-053C0FDAB2D3}" destId="{0351DB71-7BC7-461A-B87E-0AADB1E2E486}" srcOrd="3" destOrd="0" parTransId="{B1AB478A-E0C0-44B2-B06D-094739307813}" sibTransId="{41B7FCC0-799E-44D0-A45F-DD13070C2FC4}"/>
    <dgm:cxn modelId="{40291A2C-92EC-4FBD-B3C1-0A3D40AA3992}" type="presOf" srcId="{0BCAF2E0-5142-4F77-8FBE-7FF303DA4B62}" destId="{F3C760EA-FB2E-476D-B8B8-379E9A6C0822}" srcOrd="1" destOrd="0" presId="urn:microsoft.com/office/officeart/2005/8/layout/list1"/>
    <dgm:cxn modelId="{FFAB6F5F-4283-4DE1-BFC0-FC8055C584D4}" type="presOf" srcId="{95BA3B52-3525-463D-994A-B3026CE6A2C6}" destId="{BF6C51BE-ED5B-4928-9175-30627785BE68}" srcOrd="1" destOrd="0" presId="urn:microsoft.com/office/officeart/2005/8/layout/list1"/>
    <dgm:cxn modelId="{B89EBFC3-9DC6-4F16-A830-2C04DC9B668D}" srcId="{0351DB71-7BC7-461A-B87E-0AADB1E2E486}" destId="{C12293CF-B00D-4A6D-A8A7-0F878766D04C}" srcOrd="0" destOrd="0" parTransId="{351B3162-5409-40C7-A117-91E1883BCD40}" sibTransId="{FF03E021-3F50-497E-AEC8-1C9D80192DA1}"/>
    <dgm:cxn modelId="{4392767C-8278-43C1-B657-EF65E1216DC8}" type="presOf" srcId="{0351DB71-7BC7-461A-B87E-0AADB1E2E486}" destId="{6730C939-42D0-4633-A186-4F491865A48A}" srcOrd="1" destOrd="0" presId="urn:microsoft.com/office/officeart/2005/8/layout/list1"/>
    <dgm:cxn modelId="{79A11E77-DE63-4C02-BB4D-84F88AA33B40}" srcId="{2478631A-12A3-4455-ABC0-053C0FDAB2D3}" destId="{95BA3B52-3525-463D-994A-B3026CE6A2C6}" srcOrd="2" destOrd="0" parTransId="{80472E0C-7F7D-4E61-9849-34E339F96D6C}" sibTransId="{60AC9BB3-29A3-40EC-AF9B-B798B52111CB}"/>
    <dgm:cxn modelId="{E5BDBFB0-610B-4D41-BD65-8F894CF3555D}" srcId="{0BCAF2E0-5142-4F77-8FBE-7FF303DA4B62}" destId="{94F2DDD8-14C5-4D64-BE5A-4638F8287E79}" srcOrd="0" destOrd="0" parTransId="{AC0A2864-12B6-4484-8D63-957E3A34411C}" sibTransId="{C5527CF1-EEDA-4DDC-899A-53C52D6C60B0}"/>
    <dgm:cxn modelId="{F2D3A49D-3FEB-4BA8-88EA-C54A680EBB12}" type="presOf" srcId="{95BA3B52-3525-463D-994A-B3026CE6A2C6}" destId="{5B6572E0-A301-4FED-96A4-01861FAFCA77}" srcOrd="0" destOrd="0" presId="urn:microsoft.com/office/officeart/2005/8/layout/list1"/>
    <dgm:cxn modelId="{F6084C7B-9ED2-462C-99F3-44A3BA2D2806}" type="presOf" srcId="{43C6F5E3-1C08-4658-8351-630643E0785C}" destId="{588E4310-2EEF-4966-8DFB-CC8EC5EBC6A8}" srcOrd="0" destOrd="0" presId="urn:microsoft.com/office/officeart/2005/8/layout/list1"/>
    <dgm:cxn modelId="{2E64594D-E037-4C21-8006-4356CF3E117C}" type="presParOf" srcId="{C8D7DF08-96C6-4603-9025-8E64EB8867CC}" destId="{6AD135BB-0667-4709-9E12-D710073F35CB}" srcOrd="0" destOrd="0" presId="urn:microsoft.com/office/officeart/2005/8/layout/list1"/>
    <dgm:cxn modelId="{7190F313-E0AC-47F2-9C00-0D7F2D708D67}" type="presParOf" srcId="{6AD135BB-0667-4709-9E12-D710073F35CB}" destId="{FE01CD2B-034A-4BA6-BD36-A5F2259E9B77}" srcOrd="0" destOrd="0" presId="urn:microsoft.com/office/officeart/2005/8/layout/list1"/>
    <dgm:cxn modelId="{D37194BF-ECEF-4160-8EAE-F353C133A69A}" type="presParOf" srcId="{6AD135BB-0667-4709-9E12-D710073F35CB}" destId="{F3C760EA-FB2E-476D-B8B8-379E9A6C0822}" srcOrd="1" destOrd="0" presId="urn:microsoft.com/office/officeart/2005/8/layout/list1"/>
    <dgm:cxn modelId="{9DD50A5B-6951-43DF-94FC-0D5193E6A20C}" type="presParOf" srcId="{C8D7DF08-96C6-4603-9025-8E64EB8867CC}" destId="{5BE3F671-1968-4CB4-8D76-CA09DA1CF564}" srcOrd="1" destOrd="0" presId="urn:microsoft.com/office/officeart/2005/8/layout/list1"/>
    <dgm:cxn modelId="{99915E4A-D969-4C87-8A7E-DEDA8C46F6CA}" type="presParOf" srcId="{C8D7DF08-96C6-4603-9025-8E64EB8867CC}" destId="{61BDE7B9-98D5-4789-9C8B-8BBFA855CC5F}" srcOrd="2" destOrd="0" presId="urn:microsoft.com/office/officeart/2005/8/layout/list1"/>
    <dgm:cxn modelId="{C556DF60-B787-411B-9F7E-092AA17D1719}" type="presParOf" srcId="{C8D7DF08-96C6-4603-9025-8E64EB8867CC}" destId="{6C87D910-8CB8-4C46-ACD8-0167ED188B16}" srcOrd="3" destOrd="0" presId="urn:microsoft.com/office/officeart/2005/8/layout/list1"/>
    <dgm:cxn modelId="{73AE6736-9309-4572-94D4-95A4C23BEFA8}" type="presParOf" srcId="{C8D7DF08-96C6-4603-9025-8E64EB8867CC}" destId="{50A97D77-EE76-4938-A45F-92CD836EC016}" srcOrd="4" destOrd="0" presId="urn:microsoft.com/office/officeart/2005/8/layout/list1"/>
    <dgm:cxn modelId="{D2C66DF3-4BAE-4C69-BFB9-03697FDBDF9E}" type="presParOf" srcId="{50A97D77-EE76-4938-A45F-92CD836EC016}" destId="{588E4310-2EEF-4966-8DFB-CC8EC5EBC6A8}" srcOrd="0" destOrd="0" presId="urn:microsoft.com/office/officeart/2005/8/layout/list1"/>
    <dgm:cxn modelId="{DD7A2D4F-5033-4E01-BCE9-692B322CD1B0}" type="presParOf" srcId="{50A97D77-EE76-4938-A45F-92CD836EC016}" destId="{2E4FD9EE-D76E-4A8A-B753-FF1751D283A3}" srcOrd="1" destOrd="0" presId="urn:microsoft.com/office/officeart/2005/8/layout/list1"/>
    <dgm:cxn modelId="{7F714FD2-0C98-4942-A834-AEEA78998B52}" type="presParOf" srcId="{C8D7DF08-96C6-4603-9025-8E64EB8867CC}" destId="{8803A445-6B55-472D-8744-7779272539C6}" srcOrd="5" destOrd="0" presId="urn:microsoft.com/office/officeart/2005/8/layout/list1"/>
    <dgm:cxn modelId="{A5CB97B4-984A-4BB0-A821-F39B3F2A0C41}" type="presParOf" srcId="{C8D7DF08-96C6-4603-9025-8E64EB8867CC}" destId="{BC2F1EE6-8E29-4507-8DB2-C27BF84998CC}" srcOrd="6" destOrd="0" presId="urn:microsoft.com/office/officeart/2005/8/layout/list1"/>
    <dgm:cxn modelId="{E4EB695F-1DA1-4DCF-9FD7-85FB511D19C5}" type="presParOf" srcId="{C8D7DF08-96C6-4603-9025-8E64EB8867CC}" destId="{4DD80279-C65B-44A9-97DF-31ED964712E7}" srcOrd="7" destOrd="0" presId="urn:microsoft.com/office/officeart/2005/8/layout/list1"/>
    <dgm:cxn modelId="{750537B3-677F-4A1B-827B-F0123EE6940D}" type="presParOf" srcId="{C8D7DF08-96C6-4603-9025-8E64EB8867CC}" destId="{5276A00F-EC2C-44F5-B0A5-E4CA07B257C4}" srcOrd="8" destOrd="0" presId="urn:microsoft.com/office/officeart/2005/8/layout/list1"/>
    <dgm:cxn modelId="{4E7195B3-C3E3-45D8-9ED2-4B4D97CF8403}" type="presParOf" srcId="{5276A00F-EC2C-44F5-B0A5-E4CA07B257C4}" destId="{5B6572E0-A301-4FED-96A4-01861FAFCA77}" srcOrd="0" destOrd="0" presId="urn:microsoft.com/office/officeart/2005/8/layout/list1"/>
    <dgm:cxn modelId="{07877E2F-20B6-4ED3-B18E-760143736879}" type="presParOf" srcId="{5276A00F-EC2C-44F5-B0A5-E4CA07B257C4}" destId="{BF6C51BE-ED5B-4928-9175-30627785BE68}" srcOrd="1" destOrd="0" presId="urn:microsoft.com/office/officeart/2005/8/layout/list1"/>
    <dgm:cxn modelId="{98B068D5-3DD8-49D2-8ED9-323A58AD1F0E}" type="presParOf" srcId="{C8D7DF08-96C6-4603-9025-8E64EB8867CC}" destId="{4E2077DF-4AE1-4BDF-BBCE-350E1E18C8E9}" srcOrd="9" destOrd="0" presId="urn:microsoft.com/office/officeart/2005/8/layout/list1"/>
    <dgm:cxn modelId="{05B507F5-05FD-44C6-A06A-A83E6C1B1AA3}" type="presParOf" srcId="{C8D7DF08-96C6-4603-9025-8E64EB8867CC}" destId="{B36D5397-F791-4CE9-BCB5-43BA3885B047}" srcOrd="10" destOrd="0" presId="urn:microsoft.com/office/officeart/2005/8/layout/list1"/>
    <dgm:cxn modelId="{16E273FF-16E2-4398-81F7-A3CE80515F4E}" type="presParOf" srcId="{C8D7DF08-96C6-4603-9025-8E64EB8867CC}" destId="{8BCBD216-571B-4EB7-9570-EB013E5D2274}" srcOrd="11" destOrd="0" presId="urn:microsoft.com/office/officeart/2005/8/layout/list1"/>
    <dgm:cxn modelId="{8988293C-9129-4038-B91D-F46E0F093408}" type="presParOf" srcId="{C8D7DF08-96C6-4603-9025-8E64EB8867CC}" destId="{0D6256AC-C124-41AA-AB0F-CED81F09C4E2}" srcOrd="12" destOrd="0" presId="urn:microsoft.com/office/officeart/2005/8/layout/list1"/>
    <dgm:cxn modelId="{1B710B0F-6861-4050-AB56-CB978D631340}" type="presParOf" srcId="{0D6256AC-C124-41AA-AB0F-CED81F09C4E2}" destId="{6E214958-4AFA-4CC0-855E-B08FB90F32E6}" srcOrd="0" destOrd="0" presId="urn:microsoft.com/office/officeart/2005/8/layout/list1"/>
    <dgm:cxn modelId="{8E8B6398-E733-455D-88FB-438086B0B150}" type="presParOf" srcId="{0D6256AC-C124-41AA-AB0F-CED81F09C4E2}" destId="{6730C939-42D0-4633-A186-4F491865A48A}" srcOrd="1" destOrd="0" presId="urn:microsoft.com/office/officeart/2005/8/layout/list1"/>
    <dgm:cxn modelId="{A0BB428F-FC25-4642-9EB0-AA6DE81376C1}" type="presParOf" srcId="{C8D7DF08-96C6-4603-9025-8E64EB8867CC}" destId="{E39F8AC6-796E-4B35-8E4B-ACA1635B2396}" srcOrd="13" destOrd="0" presId="urn:microsoft.com/office/officeart/2005/8/layout/list1"/>
    <dgm:cxn modelId="{59CF0327-A230-4965-9551-9DA208899ACF}" type="presParOf" srcId="{C8D7DF08-96C6-4603-9025-8E64EB8867CC}" destId="{80F19620-F363-4C78-BEB0-7A8CBB09BE7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DE7B9-98D5-4789-9C8B-8BBFA855CC5F}">
      <dsp:nvSpPr>
        <dsp:cNvPr id="0" name=""/>
        <dsp:cNvSpPr/>
      </dsp:nvSpPr>
      <dsp:spPr>
        <a:xfrm>
          <a:off x="0" y="308342"/>
          <a:ext cx="6683374" cy="696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704" tIns="354076" rIns="5187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/>
            <a:t>Automates manual claim submission and review processes.</a:t>
          </a:r>
        </a:p>
      </dsp:txBody>
      <dsp:txXfrm>
        <a:off x="0" y="308342"/>
        <a:ext cx="6683374" cy="696150"/>
      </dsp:txXfrm>
    </dsp:sp>
    <dsp:sp modelId="{F3C760EA-FB2E-476D-B8B8-379E9A6C0822}">
      <dsp:nvSpPr>
        <dsp:cNvPr id="0" name=""/>
        <dsp:cNvSpPr/>
      </dsp:nvSpPr>
      <dsp:spPr>
        <a:xfrm>
          <a:off x="334168" y="57422"/>
          <a:ext cx="4678362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31" tIns="0" rIns="176831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/>
            <a:t>Efficiency:</a:t>
          </a:r>
          <a:endParaRPr lang="en-US" sz="1700" kern="1200"/>
        </a:p>
      </dsp:txBody>
      <dsp:txXfrm>
        <a:off x="358666" y="81920"/>
        <a:ext cx="4629366" cy="452844"/>
      </dsp:txXfrm>
    </dsp:sp>
    <dsp:sp modelId="{BC2F1EE6-8E29-4507-8DB2-C27BF84998CC}">
      <dsp:nvSpPr>
        <dsp:cNvPr id="0" name=""/>
        <dsp:cNvSpPr/>
      </dsp:nvSpPr>
      <dsp:spPr>
        <a:xfrm>
          <a:off x="0" y="1347212"/>
          <a:ext cx="6683374" cy="910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458064"/>
              <a:satOff val="-2807"/>
              <a:lumOff val="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704" tIns="354076" rIns="5187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/>
            <a:t>Real-time tracking ensures clarity for lecturers and administrators.</a:t>
          </a:r>
        </a:p>
      </dsp:txBody>
      <dsp:txXfrm>
        <a:off x="0" y="1347212"/>
        <a:ext cx="6683374" cy="910350"/>
      </dsp:txXfrm>
    </dsp:sp>
    <dsp:sp modelId="{2E4FD9EE-D76E-4A8A-B753-FF1751D283A3}">
      <dsp:nvSpPr>
        <dsp:cNvPr id="0" name=""/>
        <dsp:cNvSpPr/>
      </dsp:nvSpPr>
      <dsp:spPr>
        <a:xfrm>
          <a:off x="334168" y="1096292"/>
          <a:ext cx="4678362" cy="501840"/>
        </a:xfrm>
        <a:prstGeom prst="roundRect">
          <a:avLst/>
        </a:prstGeom>
        <a:gradFill rotWithShape="0">
          <a:gsLst>
            <a:gs pos="0">
              <a:schemeClr val="accent2">
                <a:hueOff val="-1458064"/>
                <a:satOff val="-2807"/>
                <a:lumOff val="196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458064"/>
                <a:satOff val="-2807"/>
                <a:lumOff val="196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458064"/>
                <a:satOff val="-2807"/>
                <a:lumOff val="196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31" tIns="0" rIns="176831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/>
            <a:t>Transparency:</a:t>
          </a:r>
          <a:endParaRPr lang="en-US" sz="1700" kern="1200"/>
        </a:p>
      </dsp:txBody>
      <dsp:txXfrm>
        <a:off x="358666" y="1120790"/>
        <a:ext cx="4629366" cy="452844"/>
      </dsp:txXfrm>
    </dsp:sp>
    <dsp:sp modelId="{B36D5397-F791-4CE9-BCB5-43BA3885B047}">
      <dsp:nvSpPr>
        <dsp:cNvPr id="0" name=""/>
        <dsp:cNvSpPr/>
      </dsp:nvSpPr>
      <dsp:spPr>
        <a:xfrm>
          <a:off x="0" y="2600282"/>
          <a:ext cx="6683374" cy="696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2916128"/>
              <a:satOff val="-5613"/>
              <a:lumOff val="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704" tIns="354076" rIns="5187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/>
            <a:t>Designed to handle multiple users and large volumes of claims.</a:t>
          </a:r>
        </a:p>
      </dsp:txBody>
      <dsp:txXfrm>
        <a:off x="0" y="2600282"/>
        <a:ext cx="6683374" cy="696150"/>
      </dsp:txXfrm>
    </dsp:sp>
    <dsp:sp modelId="{BF6C51BE-ED5B-4928-9175-30627785BE68}">
      <dsp:nvSpPr>
        <dsp:cNvPr id="0" name=""/>
        <dsp:cNvSpPr/>
      </dsp:nvSpPr>
      <dsp:spPr>
        <a:xfrm>
          <a:off x="334168" y="2349362"/>
          <a:ext cx="4678362" cy="501840"/>
        </a:xfrm>
        <a:prstGeom prst="roundRect">
          <a:avLst/>
        </a:prstGeom>
        <a:gradFill rotWithShape="0">
          <a:gsLst>
            <a:gs pos="0">
              <a:schemeClr val="accent2">
                <a:hueOff val="-2916128"/>
                <a:satOff val="-5613"/>
                <a:lumOff val="39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916128"/>
                <a:satOff val="-5613"/>
                <a:lumOff val="39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916128"/>
                <a:satOff val="-5613"/>
                <a:lumOff val="39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31" tIns="0" rIns="176831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/>
            <a:t>Scalability:</a:t>
          </a:r>
          <a:endParaRPr lang="en-US" sz="1700" kern="1200"/>
        </a:p>
      </dsp:txBody>
      <dsp:txXfrm>
        <a:off x="358666" y="2373860"/>
        <a:ext cx="4629366" cy="452844"/>
      </dsp:txXfrm>
    </dsp:sp>
    <dsp:sp modelId="{80F19620-F363-4C78-BEB0-7A8CBB09BE7E}">
      <dsp:nvSpPr>
        <dsp:cNvPr id="0" name=""/>
        <dsp:cNvSpPr/>
      </dsp:nvSpPr>
      <dsp:spPr>
        <a:xfrm>
          <a:off x="0" y="3639152"/>
          <a:ext cx="6683374" cy="910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4374192"/>
              <a:satOff val="-8420"/>
              <a:lumOff val="58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704" tIns="354076" rIns="5187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/>
            <a:t>Reduces paper-based workflows and minimizes administrative overhead.</a:t>
          </a:r>
        </a:p>
      </dsp:txBody>
      <dsp:txXfrm>
        <a:off x="0" y="3639152"/>
        <a:ext cx="6683374" cy="910350"/>
      </dsp:txXfrm>
    </dsp:sp>
    <dsp:sp modelId="{6730C939-42D0-4633-A186-4F491865A48A}">
      <dsp:nvSpPr>
        <dsp:cNvPr id="0" name=""/>
        <dsp:cNvSpPr/>
      </dsp:nvSpPr>
      <dsp:spPr>
        <a:xfrm>
          <a:off x="334168" y="3388232"/>
          <a:ext cx="4678362" cy="501840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31" tIns="0" rIns="176831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/>
            <a:t>Cost-Effectiveness:</a:t>
          </a:r>
          <a:endParaRPr lang="en-US" sz="1700" kern="1200"/>
        </a:p>
      </dsp:txBody>
      <dsp:txXfrm>
        <a:off x="358666" y="3412730"/>
        <a:ext cx="4629366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1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8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7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5873676-3D69-48B0-BA02-D759766A90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248E96D7-6599-4607-9958-FD9E100013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Do You Understand Modern Technology? - Global Tech Solutions Blog |  Nationwide Support | Global Tech Solutions">
            <a:extLst>
              <a:ext uri="{FF2B5EF4-FFF2-40B4-BE49-F238E27FC236}">
                <a16:creationId xmlns:a16="http://schemas.microsoft.com/office/drawing/2014/main" id="{00AC43C4-9379-0E3A-AD41-53B90FF14F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393" b="37258"/>
          <a:stretch/>
        </p:blipFill>
        <p:spPr>
          <a:xfrm>
            <a:off x="20" y="-1"/>
            <a:ext cx="12191980" cy="418773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478AA5-D1D0-4B5E-9FDE-6F55026DA3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229100"/>
            <a:ext cx="12192000" cy="0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CA8EEE2-DA9A-4635-9B41-33EB565145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6048" y="4437888"/>
            <a:ext cx="9899904" cy="1116711"/>
          </a:xfrm>
        </p:spPr>
        <p:txBody>
          <a:bodyPr>
            <a:normAutofit/>
          </a:bodyPr>
          <a:lstStyle/>
          <a:p>
            <a:r>
              <a:rPr lang="en-US" sz="3700" err="1"/>
              <a:t>Lectuererclaims</a:t>
            </a:r>
            <a:r>
              <a:rPr lang="en-US" sz="3700"/>
              <a:t/>
            </a:r>
            <a:br>
              <a:rPr lang="en-US" sz="3700"/>
            </a:br>
            <a:r>
              <a:rPr lang="en-US" sz="3700"/>
              <a:t>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481448"/>
            <a:ext cx="8689976" cy="53593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Best for every </a:t>
            </a:r>
          </a:p>
          <a:p>
            <a:pPr>
              <a:lnSpc>
                <a:spcPct val="110000"/>
              </a:lnSpc>
            </a:pP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Content Placeholder 52" descr="A screenshot of a computer&#10;&#10;Description automatically generated">
            <a:extLst>
              <a:ext uri="{FF2B5EF4-FFF2-40B4-BE49-F238E27FC236}">
                <a16:creationId xmlns:a16="http://schemas.microsoft.com/office/drawing/2014/main" id="{6D4958C9-95C5-89B6-AF47-27D60D066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1300785"/>
            <a:ext cx="8689976" cy="250921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1800" b="1" dirty="0" err="1"/>
              <a:t>LecturerClaimApp</a:t>
            </a:r>
            <a:r>
              <a:rPr lang="en-US" sz="1800" b="1" dirty="0"/>
              <a:t>: Streamlining Lecturer Claim Management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b="1" dirty="0"/>
              <a:t>Slide 1</a:t>
            </a:r>
            <a:endParaRPr lang="en-US" sz="1800" dirty="0"/>
          </a:p>
          <a:p>
            <a:endParaRPr lang="en-US" sz="1800" b="1" dirty="0"/>
          </a:p>
          <a:p>
            <a:endParaRPr lang="en-US" sz="1800" b="1" dirty="0"/>
          </a:p>
          <a:p>
            <a:r>
              <a:rPr lang="en-US" sz="1800" dirty="0"/>
              <a:t>A smart solution for managing and processing lecturer claims with efficiency, transparency, and reliability.</a:t>
            </a:r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Presented By:</a:t>
            </a:r>
            <a:endParaRPr lang="en-US" sz="1800" dirty="0"/>
          </a:p>
          <a:p>
            <a:r>
              <a:rPr lang="en-US" sz="1800" dirty="0" err="1"/>
              <a:t>Kgotatso</a:t>
            </a:r>
            <a:r>
              <a:rPr lang="en-US" sz="1800" dirty="0"/>
              <a:t> </a:t>
            </a:r>
            <a:r>
              <a:rPr lang="en-US" sz="1800" dirty="0" err="1"/>
              <a:t>phetoe</a:t>
            </a:r>
            <a:endParaRPr lang="en-US" sz="1800" dirty="0"/>
          </a:p>
          <a:p>
            <a:endParaRPr lang="en-US" sz="1200" dirty="0"/>
          </a:p>
          <a:p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Slide 2:introduction</a:t>
            </a:r>
            <a:endParaRPr lang="en-US" sz="2800" dirty="0"/>
          </a:p>
          <a:p>
            <a:pPr algn="l"/>
            <a:endParaRPr lang="en-US" sz="90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4583ADF5-7889-5644-3726-3D783209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6408" y="2367092"/>
            <a:ext cx="3352128" cy="3881309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200" b="1" dirty="0">
                <a:latin typeface="Segoe UI"/>
                <a:cs typeface="Segoe UI"/>
              </a:rPr>
              <a:t>What is </a:t>
            </a:r>
            <a:r>
              <a:rPr lang="en-US" sz="1200" b="1" err="1">
                <a:latin typeface="Segoe UI"/>
                <a:cs typeface="Segoe UI"/>
              </a:rPr>
              <a:t>LecturerClaimApp</a:t>
            </a:r>
            <a:r>
              <a:rPr lang="en-US" sz="1200" b="1" dirty="0">
                <a:latin typeface="Segoe UI"/>
                <a:cs typeface="Segoe UI"/>
              </a:rPr>
              <a:t>?</a:t>
            </a:r>
            <a:endParaRPr lang="en-US" sz="1200" dirty="0">
              <a:latin typeface="Segoe UI"/>
              <a:cs typeface="Segoe UI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200" err="1">
                <a:latin typeface="Segoe UI"/>
                <a:cs typeface="Segoe UI"/>
              </a:rPr>
              <a:t>LecturerClaimApp</a:t>
            </a:r>
            <a:r>
              <a:rPr lang="en-US" sz="1200" dirty="0">
                <a:latin typeface="Segoe UI"/>
                <a:cs typeface="Segoe UI"/>
              </a:rPr>
              <a:t> is a web-based application designed to simplify the process of submitting, verifying, approving, and managing lecturer claims.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200" b="1" dirty="0">
                <a:latin typeface="Segoe UI"/>
                <a:cs typeface="Segoe UI"/>
              </a:rPr>
              <a:t>Key Features:</a:t>
            </a:r>
            <a:endParaRPr lang="en-US" sz="1200" dirty="0">
              <a:latin typeface="Segoe UI"/>
              <a:cs typeface="Segoe UI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Font typeface="Arial,Sans-Serif" panose="020B0604020202020204" pitchFamily="34" charset="0"/>
            </a:pPr>
            <a:r>
              <a:rPr lang="en-US" sz="1200" dirty="0">
                <a:latin typeface="Arial"/>
                <a:cs typeface="Arial"/>
              </a:rPr>
              <a:t>Claim submission with supporting documents.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Font typeface="Arial,Sans-Serif" panose="020B0604020202020204" pitchFamily="34" charset="0"/>
            </a:pPr>
            <a:r>
              <a:rPr lang="en-US" sz="1200" dirty="0">
                <a:latin typeface="Arial"/>
                <a:cs typeface="Arial"/>
              </a:rPr>
              <a:t>Automated approval and rejection workflows.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Font typeface="Arial,Sans-Serif" panose="020B0604020202020204" pitchFamily="34" charset="0"/>
            </a:pPr>
            <a:r>
              <a:rPr lang="en-US" sz="1200" dirty="0">
                <a:latin typeface="Arial"/>
                <a:cs typeface="Arial"/>
              </a:rPr>
              <a:t>Real-time status tracking.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Font typeface="Arial,Sans-Serif" panose="020B0604020202020204" pitchFamily="34" charset="0"/>
            </a:pPr>
            <a:r>
              <a:rPr lang="en-US" sz="1200" dirty="0">
                <a:latin typeface="Arial"/>
                <a:cs typeface="Arial"/>
              </a:rPr>
              <a:t>Secure and transparent information storage.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200" b="1" dirty="0">
                <a:latin typeface="Segoe UI"/>
                <a:cs typeface="Segoe UI"/>
              </a:rPr>
              <a:t>Objective:</a:t>
            </a:r>
            <a:endParaRPr lang="en-US" sz="1200" dirty="0">
              <a:latin typeface="Segoe UI"/>
              <a:cs typeface="Segoe UI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200" dirty="0">
                <a:latin typeface="Segoe UI"/>
                <a:cs typeface="Segoe UI"/>
              </a:rPr>
              <a:t>To enhance productivity and reduce administrative burden for educational institutions.</a:t>
            </a:r>
          </a:p>
          <a:p>
            <a:pPr>
              <a:buClr>
                <a:srgbClr val="000000"/>
              </a:buClr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" y="0"/>
            <a:ext cx="8012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7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>
            <a:extLst>
              <a:ext uri="{FF2B5EF4-FFF2-40B4-BE49-F238E27FC236}">
                <a16:creationId xmlns:a16="http://schemas.microsoft.com/office/drawing/2014/main" id="{55185833-50A1-4075-9C90-F6E7B153AE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80F41EF-72A4-4DA7-9DEB-C487B2512F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E194D91-9FD4-4CB4-AD8E-C842798FF2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287B275B-62BF-40C0-95BA-606F0ACCA8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DDE8805-3EA4-4406-A843-10FB62D154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020" y="3429000"/>
            <a:ext cx="7421138" cy="1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0F72099E-AFE3-450F-AC2A-7A52DE3546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91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2BC5777-6C9B-4A78-9BA6-92FA4E86BD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8B2B72-EB44-4428-96AA-8636E4A4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/>
              <a:t>Slide 3: Features Overview</a:t>
            </a:r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3EBDD2D-0026-A7F2-DFB7-ED19317C52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96408" y="2367092"/>
            <a:ext cx="3352128" cy="388130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endParaRPr lang="en-US" sz="700" b="1"/>
          </a:p>
          <a:p>
            <a:pPr>
              <a:lnSpc>
                <a:spcPct val="110000"/>
              </a:lnSpc>
            </a:pPr>
            <a:r>
              <a:rPr lang="en-US" sz="1000" b="1" dirty="0"/>
              <a:t>Claim Submission:</a:t>
            </a:r>
            <a:endParaRPr lang="en-US" sz="1000" dirty="0"/>
          </a:p>
          <a:p>
            <a:pPr lvl="1">
              <a:lnSpc>
                <a:spcPct val="110000"/>
              </a:lnSpc>
            </a:pPr>
            <a:r>
              <a:rPr lang="en-US" sz="1000" dirty="0"/>
              <a:t>Lecturers can easily submit claims online, specifying hours worked, hourly rate, and additional notes.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Upload supporting documents directly within the platform.</a:t>
            </a:r>
          </a:p>
          <a:p>
            <a:pPr>
              <a:lnSpc>
                <a:spcPct val="110000"/>
              </a:lnSpc>
            </a:pPr>
            <a:r>
              <a:rPr lang="en-US" sz="1000" b="1" dirty="0"/>
              <a:t>Approval Workflow:</a:t>
            </a:r>
            <a:endParaRPr lang="en-US" sz="1000" dirty="0"/>
          </a:p>
          <a:p>
            <a:pPr lvl="1">
              <a:lnSpc>
                <a:spcPct val="110000"/>
              </a:lnSpc>
            </a:pPr>
            <a:r>
              <a:rPr lang="en-US" sz="1000" err="1"/>
              <a:t>Programme</a:t>
            </a:r>
            <a:r>
              <a:rPr lang="en-US" sz="1000" dirty="0"/>
              <a:t> Coordinators and Academic Managers can review, approve, or reject claims seamlessly.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Automates email notifications for status updates.</a:t>
            </a:r>
          </a:p>
          <a:p>
            <a:pPr>
              <a:lnSpc>
                <a:spcPct val="110000"/>
              </a:lnSpc>
            </a:pPr>
            <a:r>
              <a:rPr lang="en-US" sz="1000" b="1" dirty="0"/>
              <a:t>Real-Time Tracking:</a:t>
            </a:r>
            <a:endParaRPr lang="en-US" sz="1000" dirty="0"/>
          </a:p>
          <a:p>
            <a:pPr lvl="1">
              <a:lnSpc>
                <a:spcPct val="110000"/>
              </a:lnSpc>
            </a:pPr>
            <a:r>
              <a:rPr lang="en-US" sz="1000" dirty="0"/>
              <a:t>Lecturers can track the status of their claims (Pending, Approved, Rejected).</a:t>
            </a:r>
          </a:p>
          <a:p>
            <a:pPr>
              <a:lnSpc>
                <a:spcPct val="110000"/>
              </a:lnSpc>
            </a:pPr>
            <a:r>
              <a:rPr lang="en-US" sz="1000" b="1" dirty="0"/>
              <a:t>Data Security:</a:t>
            </a:r>
            <a:endParaRPr lang="en-US" sz="1000" dirty="0"/>
          </a:p>
          <a:p>
            <a:pPr lvl="1">
              <a:lnSpc>
                <a:spcPct val="110000"/>
              </a:lnSpc>
            </a:pPr>
            <a:r>
              <a:rPr lang="en-US" sz="1000" dirty="0"/>
              <a:t>Reliable storage and secure access using ASP.NET Identity for authentication and authorization.</a:t>
            </a:r>
          </a:p>
          <a:p>
            <a:pPr>
              <a:lnSpc>
                <a:spcPct val="110000"/>
              </a:lnSpc>
            </a:pPr>
            <a:endParaRPr lang="en-US" sz="7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7" y="3551067"/>
            <a:ext cx="7288567" cy="3306933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6" y="-3"/>
            <a:ext cx="7383861" cy="3306937"/>
          </a:xfrm>
        </p:spPr>
      </p:pic>
    </p:spTree>
    <p:extLst>
      <p:ext uri="{BB962C8B-B14F-4D97-AF65-F5344CB8AC3E}">
        <p14:creationId xmlns:p14="http://schemas.microsoft.com/office/powerpoint/2010/main" val="306903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>
            <a:extLst>
              <a:ext uri="{FF2B5EF4-FFF2-40B4-BE49-F238E27FC236}">
                <a16:creationId xmlns:a16="http://schemas.microsoft.com/office/drawing/2014/main" id="{9A0F0AC6-A89F-416B-9FA4-48E664065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218D7DD0-110F-43F3-A7E4-B51873CBF1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E3F012C5-2940-4F3E-BB5E-B8B2C9E829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B37C977-E7E3-44AC-AEC8-2E27641909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13876" cy="6858000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70DF37D-86A3-45DB-B1C1-580462D4BB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1" y="-2"/>
            <a:ext cx="3321978" cy="2196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B77B0A-41A1-428C-897D-2AEE4B4A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896" y="960814"/>
            <a:ext cx="2732249" cy="49129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100" b="1">
                <a:solidFill>
                  <a:schemeClr val="bg1"/>
                </a:solidFill>
              </a:rPr>
              <a:t>Slide 4: Technology Stack</a:t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038BA689-20E2-4C6E-9788-5A871F3D1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79078" y="960814"/>
            <a:ext cx="6247722" cy="48303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Backend: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ASP.NET Core MVC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Entity Framework Core for database interaction.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Frontend: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Razor Pages for dynamic UI generation.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Bootstrap for responsive design.</a:t>
            </a:r>
            <a:endParaRPr lang="en-US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Database: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SQL Server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Reporting: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Crystal Reports or SQL Server Reporting Services (SSRS) for generating summaries of approved claims.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Security:</a:t>
            </a:r>
          </a:p>
          <a:p>
            <a:pPr algn="l">
              <a:lnSpc>
                <a:spcPct val="110000"/>
              </a:lnSpc>
            </a:pPr>
            <a:r>
              <a:rPr lang="en-US" sz="1300" dirty="0"/>
              <a:t>ASP.NET Identity for user authentication.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7407B0FF-43E0-4B2E-B48B-C2A472D103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AC6C18-4147-48ED-8B6A-19B3E0D891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CBC50-CEAE-ECE5-8780-16166B24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/>
              <a:t>Slide 5: Benefits</a:t>
            </a:r>
            <a:endParaRPr lang="en-US" sz="44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447F9033-215B-0C05-53BB-0FF620EAAC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6780872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7111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A0F0AC6-A89F-416B-9FA4-48E664065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8D7DD0-110F-43F3-A7E4-B51873CBF1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3F012C5-2940-4F3E-BB5E-B8B2C9E829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37C977-E7E3-44AC-AEC8-2E27641909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13876" cy="6858000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0DF37D-86A3-45DB-B1C1-580462D4BB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1" y="-2"/>
            <a:ext cx="3321978" cy="2196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D71B8F-5AA3-5EE4-D3D6-D163A896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896" y="960814"/>
            <a:ext cx="2732249" cy="49129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b="1">
                <a:solidFill>
                  <a:schemeClr val="bg1"/>
                </a:solidFill>
              </a:rPr>
              <a:t>Slide 6: System Workflow</a:t>
            </a:r>
            <a:endParaRPr lang="en-US" sz="37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F06DA-251B-20CB-99DD-0508F00A2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79078" y="960814"/>
            <a:ext cx="6247722" cy="48303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b="1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1. Claim Submission:</a:t>
            </a:r>
            <a:endParaRPr lang="en-US" sz="170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Lecturers enter details like hours worked, rate, and upload documents.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2. Review and Approval:</a:t>
            </a:r>
            <a:endParaRPr lang="en-US" sz="170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Coordinators or Managers verify claims and approve or reject them.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3. Status Updates:</a:t>
            </a:r>
            <a:endParaRPr lang="en-US" sz="170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System notifies users about the decision and allows real-time tracking.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4. Reporting:</a:t>
            </a:r>
            <a:endParaRPr lang="en-US" sz="170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Generates summarized reports for financial processing.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59993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A0F0AC6-A89F-416B-9FA4-48E664065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8D7DD0-110F-43F3-A7E4-B51873CBF1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5F590D-2BC5-EF5D-AFB5-4D55F619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b="1" dirty="0"/>
              <a:t>Slide 7: Conclusion</a:t>
            </a:r>
            <a:endParaRPr lang="en-US" sz="3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DC60-96B2-691F-EF98-853DA0DF0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008" y="1193576"/>
            <a:ext cx="6576591" cy="44708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b="1"/>
          </a:p>
          <a:p>
            <a:pPr algn="l"/>
            <a:r>
              <a:rPr lang="en-US" b="1"/>
              <a:t>Why </a:t>
            </a:r>
            <a:r>
              <a:rPr lang="en-US" b="1" err="1"/>
              <a:t>LecturerClaimApp</a:t>
            </a:r>
            <a:r>
              <a:rPr lang="en-US" b="1"/>
              <a:t>?</a:t>
            </a:r>
            <a:endParaRPr lang="en-US"/>
          </a:p>
          <a:p>
            <a:pPr marL="285750" indent="-228600" algn="l">
              <a:buClr>
                <a:srgbClr val="000000"/>
              </a:buClr>
              <a:buChar char="•"/>
            </a:pPr>
            <a:r>
              <a:rPr lang="en-US"/>
              <a:t>Saves time for both lecturers and administrators.</a:t>
            </a:r>
          </a:p>
          <a:p>
            <a:pPr marL="285750" indent="-228600" algn="l">
              <a:buClr>
                <a:srgbClr val="000000"/>
              </a:buClr>
              <a:buChar char="•"/>
            </a:pPr>
            <a:r>
              <a:rPr lang="en-US"/>
              <a:t>Increases transparency and reliability in claim management.</a:t>
            </a:r>
          </a:p>
          <a:p>
            <a:pPr marL="285750" indent="-228600" algn="l">
              <a:buClr>
                <a:srgbClr val="000000"/>
              </a:buClr>
              <a:buChar char="•"/>
            </a:pPr>
            <a:r>
              <a:rPr lang="en-US"/>
              <a:t>Scalable and adaptable for diverse educational institutions.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Thank You!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ANY Questions and Discussions?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6836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E03586-8184-4C49-8FA3-B20AB4AE10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18C37A7-4AB7-40E8-AFED-CECDD3C7E0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5FC6BB-A55E-4545-8619-7F7F30CFA1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391</Words>
  <Application>Microsoft Office PowerPoint</Application>
  <PresentationFormat>Widescreen</PresentationFormat>
  <Paragraphs>79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Arial,Sans-Serif</vt:lpstr>
      <vt:lpstr>Calibri</vt:lpstr>
      <vt:lpstr>Segoe UI</vt:lpstr>
      <vt:lpstr>Tw Cen MT</vt:lpstr>
      <vt:lpstr>Droplet</vt:lpstr>
      <vt:lpstr>Lectuererclaims application</vt:lpstr>
      <vt:lpstr>LecturerClaimApp: Streamlining Lecturer Claim Management  Slide 1   A smart solution for managing and processing lecturer claims with efficiency, transparency, and reliability.  Presented By: Kgotatso phetoe    </vt:lpstr>
      <vt:lpstr>Slide 2:introduction </vt:lpstr>
      <vt:lpstr>Slide 3: Features Overview</vt:lpstr>
      <vt:lpstr>Slide 4: Technology Stack</vt:lpstr>
      <vt:lpstr>Slide 5: Benefits</vt:lpstr>
      <vt:lpstr>Slide 6: System Workflow</vt:lpstr>
      <vt:lpstr>Slide 7: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Lectuererclaims application</dc:title>
  <dc:creator/>
  <cp:lastModifiedBy>Windows User</cp:lastModifiedBy>
  <cp:revision>157</cp:revision>
  <dcterms:created xsi:type="dcterms:W3CDTF">2024-11-22T10:52:56Z</dcterms:created>
  <dcterms:modified xsi:type="dcterms:W3CDTF">2024-11-22T19:03:47Z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